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68096"/>
            <a:ext cx="82296" cy="475488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932688"/>
            <a:ext cx="1005840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66CAE5"/>
                </a:solidFill>
                <a:latin typeface="Aptos"/>
              </a:defRPr>
            </a:pPr>
            <a:r>
              <a:t>SCHOOLTHREATMITIGATION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1664208"/>
            <a:ext cx="9966960" cy="1773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3900" b="1">
                <a:solidFill>
                  <a:srgbClr val="F0F9FA"/>
                </a:solidFill>
                <a:latin typeface="Aptos"/>
              </a:defRPr>
            </a:pPr>
            <a:r>
              <a:t>FROM SPECIFIC THREATS</a:t>
            </a:r>
          </a:p>
          <a:p>
            <a:pPr>
              <a:spcAft>
                <a:spcPts val="300"/>
              </a:spcAft>
              <a:defRPr sz="3900" b="1">
                <a:solidFill>
                  <a:srgbClr val="F0F9FA"/>
                </a:solidFill>
                <a:latin typeface="Aptos"/>
              </a:defRPr>
            </a:pPr>
            <a:r>
              <a:t>TO VERIFIED COUNTERMEASURES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4050791"/>
            <a:ext cx="969264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B0C7CF"/>
                </a:solidFill>
                <a:latin typeface="Aptos"/>
              </a:defRPr>
            </a:pPr>
            <a:r>
              <a:t>Mass-shooting prevention · lawful protection · accountable response</a:t>
            </a:r>
          </a:p>
          <a:p>
            <a:pPr>
              <a:spcAft>
                <a:spcPts val="300"/>
              </a:spcAft>
              <a:defRPr sz="1600" b="0">
                <a:solidFill>
                  <a:srgbClr val="B0C7CF"/>
                </a:solidFill>
                <a:latin typeface="Aptos"/>
              </a:defRPr>
            </a:pPr>
            <a:r>
              <a:t>Public defensive engineering proposal | 26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5980176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25C1BA"/>
                </a:solidFill>
                <a:latin typeface="Aptos"/>
              </a:defRPr>
            </a:pPr>
            <a:r>
              <a:t>VERSION 17.0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01752"/>
            <a:ext cx="50292" cy="557784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0F9FA"/>
                </a:solidFill>
                <a:latin typeface="Aptos"/>
              </a:defRPr>
            </a:pPr>
            <a:r>
              <a:t>ONE INTEGRATED PROTECTION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0664"/>
            <a:ext cx="1097280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G0 constitutional safeguards govern every activity, including technology and human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6528816"/>
            <a:ext cx="11100816" cy="1463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9282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B0C7CF"/>
                </a:solidFill>
                <a:latin typeface="Aptos"/>
              </a:defRPr>
            </a:pPr>
            <a:r>
              <a:t>SCHOOLTHREATMITIGATION  /  PUBLIC DEFENSIVE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83680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700" b="1">
                <a:solidFill>
                  <a:srgbClr val="B0C7CF"/>
                </a:solidFill>
                <a:latin typeface="Aptos"/>
              </a:defRPr>
            </a:pPr>
            <a:r>
              <a:t>VERSION 17.0    •   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10972800" cy="1014984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64008" cy="1014984"/>
          </a:xfrm>
          <a:prstGeom prst="rect">
            <a:avLst/>
          </a:prstGeom>
          <a:solidFill>
            <a:srgbClr val="E0A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81912"/>
            <a:ext cx="1060704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0F9FA"/>
                </a:solidFill>
                <a:latin typeface="Aptos"/>
              </a:defRPr>
            </a:pPr>
            <a:r>
              <a:t>G0  /  CONSTITUTIONAL AUTHORITY &amp; PUBLIC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12848"/>
            <a:ext cx="10588752" cy="1005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Due process  ·  FERPA minimization  ·  independent complaints  ·  no owner registry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880360"/>
            <a:ext cx="2148840" cy="224028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2880360"/>
            <a:ext cx="64008" cy="224028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72384"/>
            <a:ext cx="178308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0F9FA"/>
                </a:solidFill>
                <a:latin typeface="Aptos"/>
              </a:defRPr>
            </a:pPr>
            <a:r>
              <a:t>PREVENT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1764792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Youth firearm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16936" y="2880360"/>
            <a:ext cx="2148840" cy="224028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16936" y="2880360"/>
            <a:ext cx="64008" cy="224028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18104" y="3072384"/>
            <a:ext cx="178308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0F9FA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703320"/>
            <a:ext cx="1764792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Corroborate behaviors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79" y="2880360"/>
            <a:ext cx="2148840" cy="224028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79" y="2880360"/>
            <a:ext cx="64008" cy="224028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3247" y="3072384"/>
            <a:ext cx="178308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0F9FA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3247" y="3703320"/>
            <a:ext cx="1764792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Alerts · safe egress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07223" y="2880360"/>
            <a:ext cx="2148840" cy="224028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07223" y="2880360"/>
            <a:ext cx="64008" cy="2240280"/>
          </a:xfrm>
          <a:prstGeom prst="rect">
            <a:avLst/>
          </a:prstGeom>
          <a:solidFill>
            <a:srgbClr val="E0A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8392" y="3072384"/>
            <a:ext cx="178308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0F9FA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3703320"/>
            <a:ext cx="1764792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Qualified professionals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02367" y="2880360"/>
            <a:ext cx="2148840" cy="224028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02367" y="2880360"/>
            <a:ext cx="64008" cy="2240280"/>
          </a:xfrm>
          <a:prstGeom prst="rect">
            <a:avLst/>
          </a:prstGeom>
          <a:solidFill>
            <a:srgbClr val="E0A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03536" y="3072384"/>
            <a:ext cx="178308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0F9FA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3536" y="3703320"/>
            <a:ext cx="1764792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Validated improvements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5586984"/>
            <a:ext cx="10972800" cy="4480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66CAE5"/>
                </a:solidFill>
                <a:latin typeface="Aptos"/>
              </a:defRPr>
            </a:pPr>
            <a:r>
              <a:t>Recheck threats, failures, rights impacts and evidence after every exercise or material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01752"/>
            <a:ext cx="50292" cy="557784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0F9FA"/>
                </a:solidFill>
                <a:latin typeface="Aptos"/>
              </a:defRPr>
            </a:pPr>
            <a:r>
              <a:t>CLASSIFY THREATS BEFORE BUYING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0664"/>
            <a:ext cx="1097280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Four scenario families organize the specific requirements in the V17.0 register.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6528816"/>
            <a:ext cx="11100816" cy="1463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9282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B0C7CF"/>
                </a:solidFill>
                <a:latin typeface="Aptos"/>
              </a:defRPr>
            </a:pPr>
            <a:r>
              <a:t>SCHOOLTHREATMITIGATION  /  PUBLIC DEFENSIVE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83680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700" b="1">
                <a:solidFill>
                  <a:srgbClr val="B0C7CF"/>
                </a:solidFill>
                <a:latin typeface="Aptos"/>
              </a:defRPr>
            </a:pPr>
            <a:r>
              <a:t>VERSION 17.0    •   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71600"/>
            <a:ext cx="5532120" cy="192024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71600"/>
            <a:ext cx="64008" cy="192024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63624"/>
            <a:ext cx="5166359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0F9FA"/>
                </a:solidFill>
                <a:latin typeface="Aptos"/>
              </a:defRPr>
            </a:pPr>
            <a:r>
              <a:t>01  PRE-INCIDENT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5148072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Unsecured household / vehicle firearm</a:t>
            </a:r>
          </a:p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Voluntary secure-storage controls and caregiver education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1371600"/>
            <a:ext cx="5532120" cy="192024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371600"/>
            <a:ext cx="64008" cy="192024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5" y="1563624"/>
            <a:ext cx="5166359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0F9FA"/>
                </a:solidFill>
                <a:latin typeface="Aptos"/>
              </a:defRPr>
            </a:pPr>
            <a:r>
              <a:t>02  ESCALATION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5" y="2194560"/>
            <a:ext cx="5148072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Corroborated threat, false allegation or synthetic media</a:t>
            </a:r>
          </a:p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Multidisciplinary review and lawful intervention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520440"/>
            <a:ext cx="5532120" cy="192024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520440"/>
            <a:ext cx="64008" cy="1920240"/>
          </a:xfrm>
          <a:prstGeom prst="rect">
            <a:avLst/>
          </a:prstGeom>
          <a:solidFill>
            <a:srgbClr val="66C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12464"/>
            <a:ext cx="5166359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0F9FA"/>
                </a:solidFill>
                <a:latin typeface="Aptos"/>
              </a:defRPr>
            </a:pPr>
            <a:r>
              <a:t>03  IMMEDIATE DANGER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5148072" cy="10058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Verified warning, ambiguous alarm, disabled egress</a:t>
            </a:r>
          </a:p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Human-authorized alerts, safe shelter/exit and 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3520440"/>
            <a:ext cx="5532120" cy="192024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19088" y="3520440"/>
            <a:ext cx="64008" cy="1920240"/>
          </a:xfrm>
          <a:prstGeom prst="rect">
            <a:avLst/>
          </a:prstGeom>
          <a:solidFill>
            <a:srgbClr val="66C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5" y="3712464"/>
            <a:ext cx="5166359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0F9FA"/>
                </a:solidFill>
                <a:latin typeface="Aptos"/>
              </a:defRPr>
            </a:pPr>
            <a:r>
              <a:t>04  SECONDARY FAILURE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5" y="4343400"/>
            <a:ext cx="5148072" cy="10058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Ransomware, power loss, misidentification or data leak</a:t>
            </a:r>
          </a:p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Manual fallback, incident oversight, recover and remediate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01752"/>
            <a:ext cx="50292" cy="557784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0F9FA"/>
                </a:solidFill>
                <a:latin typeface="Aptos"/>
              </a:defRPr>
            </a:pPr>
            <a:r>
              <a:t>PREVENT ACCESS WITHOUT REGISTERING OWNERS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0664"/>
            <a:ext cx="1097280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Start upstream, before protective security systems are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6528816"/>
            <a:ext cx="11100816" cy="1463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9282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B0C7CF"/>
                </a:solidFill>
                <a:latin typeface="Aptos"/>
              </a:defRPr>
            </a:pPr>
            <a:r>
              <a:t>SCHOOLTHREATMITIGATION  /  PUBLIC DEFENSIVE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83680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700" b="1">
                <a:solidFill>
                  <a:srgbClr val="B0C7CF"/>
                </a:solidFill>
                <a:latin typeface="Aptos"/>
              </a:defRPr>
            </a:pPr>
            <a:r>
              <a:t>VERSION 17.0    •   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99032"/>
            <a:ext cx="5303520" cy="338328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99032"/>
            <a:ext cx="64008" cy="338328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91056"/>
            <a:ext cx="4937759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F0F9FA"/>
                </a:solidFill>
                <a:latin typeface="Aptos"/>
              </a:defRPr>
            </a:pPr>
            <a:r>
              <a:t>HOUSEHOLD &amp; VISITOR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21991"/>
            <a:ext cx="4919472" cy="2468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B0C7CF"/>
                </a:solidFill>
                <a:latin typeface="Aptos"/>
              </a:defRPr>
            </a:pPr>
            <a:r>
              <a:t>Voluntary locked and unloaded storage</a:t>
            </a:r>
          </a:p>
          <a:p>
            <a:pPr>
              <a:spcAft>
                <a:spcPts val="300"/>
              </a:spcAft>
              <a:defRPr sz="1600" b="0">
                <a:solidFill>
                  <a:srgbClr val="B0C7CF"/>
                </a:solidFill>
                <a:latin typeface="Aptos"/>
              </a:defRPr>
            </a:pPr>
            <a:r>
              <a:t>Secure keys / combinations</a:t>
            </a:r>
          </a:p>
          <a:p>
            <a:pPr>
              <a:spcAft>
                <a:spcPts val="300"/>
              </a:spcAft>
              <a:defRPr sz="1600" b="0">
                <a:solidFill>
                  <a:srgbClr val="B0C7CF"/>
                </a:solidFill>
                <a:latin typeface="Aptos"/>
              </a:defRPr>
            </a:pPr>
            <a:r>
              <a:t>Vehicle and other-household awareness</a:t>
            </a:r>
          </a:p>
          <a:p>
            <a:pPr>
              <a:spcAft>
                <a:spcPts val="300"/>
              </a:spcAft>
              <a:defRPr sz="1600" b="0">
                <a:solidFill>
                  <a:srgbClr val="B0C7CF"/>
                </a:solidFill>
                <a:latin typeface="Aptos"/>
              </a:defRPr>
            </a:pPr>
            <a:r>
              <a:t>Lawful temporary storage referral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99032"/>
            <a:ext cx="5303520" cy="338328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399032"/>
            <a:ext cx="64008" cy="3383280"/>
          </a:xfrm>
          <a:prstGeom prst="rect">
            <a:avLst/>
          </a:prstGeom>
          <a:solidFill>
            <a:srgbClr val="E0A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91056"/>
            <a:ext cx="4937759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F0F9FA"/>
                </a:solidFill>
                <a:latin typeface="Aptos"/>
              </a:defRPr>
            </a:pPr>
            <a:r>
              <a:t>NON-NEGOTIABLE RIGHTS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21991"/>
            <a:ext cx="4919472" cy="2468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B0C7CF"/>
                </a:solidFill>
                <a:latin typeface="Aptos"/>
              </a:defRPr>
            </a:pPr>
            <a:r>
              <a:t>No school firearm-owner list</a:t>
            </a:r>
          </a:p>
          <a:p>
            <a:pPr>
              <a:spcAft>
                <a:spcPts val="300"/>
              </a:spcAft>
              <a:defRPr sz="1600" b="0">
                <a:solidFill>
                  <a:srgbClr val="B0C7CF"/>
                </a:solidFill>
                <a:latin typeface="Aptos"/>
              </a:defRPr>
            </a:pPr>
            <a:r>
              <a:t>No mandatory ownership disclosure</a:t>
            </a:r>
          </a:p>
          <a:p>
            <a:pPr>
              <a:spcAft>
                <a:spcPts val="300"/>
              </a:spcAft>
              <a:defRPr sz="1600" b="0">
                <a:solidFill>
                  <a:srgbClr val="B0C7CF"/>
                </a:solidFill>
                <a:latin typeface="Aptos"/>
              </a:defRPr>
            </a:pPr>
            <a:r>
              <a:t>No inference from lawful ownership</a:t>
            </a:r>
          </a:p>
          <a:p>
            <a:pPr>
              <a:spcAft>
                <a:spcPts val="300"/>
              </a:spcAft>
              <a:defRPr sz="1600" b="0">
                <a:solidFill>
                  <a:srgbClr val="B0C7CF"/>
                </a:solidFill>
                <a:latin typeface="Aptos"/>
              </a:defRPr>
            </a:pPr>
            <a:r>
              <a:t>No coercion or marketing of family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074920"/>
            <a:ext cx="10863072" cy="804672"/>
          </a:xfrm>
          <a:prstGeom prst="roundRect">
            <a:avLst/>
          </a:prstGeom>
          <a:solidFill>
            <a:srgbClr val="12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266944"/>
            <a:ext cx="104698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F0F9FA"/>
                </a:solidFill>
                <a:latin typeface="Aptos"/>
              </a:defRPr>
            </a:pPr>
            <a:r>
              <a:t>MEASURE: opt-in reach, comprehension, affordable access and anonymized practice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01752"/>
            <a:ext cx="50292" cy="557784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0F9FA"/>
                </a:solidFill>
                <a:latin typeface="Aptos"/>
              </a:defRPr>
            </a:pPr>
            <a:r>
              <a:t>THREATS DRIVE TECHNOLOGY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0664"/>
            <a:ext cx="1097280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Rapid co-evolution requires rapid learning—but not uncontrolled life-safety deployments.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6528816"/>
            <a:ext cx="11100816" cy="1463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9282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B0C7CF"/>
                </a:solidFill>
                <a:latin typeface="Aptos"/>
              </a:defRPr>
            </a:pPr>
            <a:r>
              <a:t>SCHOOLTHREATMITIGATION  /  PUBLIC DEFENSIVE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83680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700" b="1">
                <a:solidFill>
                  <a:srgbClr val="B0C7CF"/>
                </a:solidFill>
                <a:latin typeface="Aptos"/>
              </a:defRPr>
            </a:pPr>
            <a:r>
              <a:t>VERSION 17.0    •   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627632"/>
            <a:ext cx="2724912" cy="2587752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627632"/>
            <a:ext cx="64008" cy="2587752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73936"/>
            <a:ext cx="235915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5C1B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057400"/>
            <a:ext cx="2359152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F0F9FA"/>
                </a:solidFill>
                <a:latin typeface="Aptos"/>
              </a:defRPr>
            </a:pPr>
            <a:r>
              <a:t>THREAT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688336"/>
            <a:ext cx="2340864" cy="1435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B0C7CF"/>
                </a:solidFill>
                <a:latin typeface="Aptos"/>
              </a:defRPr>
            </a:pPr>
            <a:r>
              <a:t>Observed facts, credible emerging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46704" y="2962656"/>
            <a:ext cx="155448" cy="0"/>
          </a:xfrm>
          <a:prstGeom prst="line">
            <a:avLst/>
          </a:prstGeom>
          <a:ln w="25400">
            <a:solidFill>
              <a:srgbClr val="25C1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93008" y="1627632"/>
            <a:ext cx="2724912" cy="2587752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3008" y="1627632"/>
            <a:ext cx="64008" cy="2587752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1773936"/>
            <a:ext cx="235915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5C1B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057400"/>
            <a:ext cx="2359152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F0F9FA"/>
                </a:solidFill>
                <a:latin typeface="Aptos"/>
              </a:defRPr>
            </a:pPr>
            <a:r>
              <a:t>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2688336"/>
            <a:ext cx="2340864" cy="1435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B0C7CF"/>
                </a:solidFill>
                <a:latin typeface="Aptos"/>
              </a:defRPr>
            </a:pPr>
            <a:r>
              <a:t>Compare baseline and non-tech alternatives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27064" y="2962656"/>
            <a:ext cx="155448" cy="0"/>
          </a:xfrm>
          <a:prstGeom prst="line">
            <a:avLst/>
          </a:prstGeom>
          <a:ln w="25400">
            <a:solidFill>
              <a:srgbClr val="25C1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73368" y="1627632"/>
            <a:ext cx="2724912" cy="2587752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73368" y="1627632"/>
            <a:ext cx="64008" cy="2587752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1773936"/>
            <a:ext cx="235915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5C1B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2057400"/>
            <a:ext cx="2359152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F0F9FA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2688336"/>
            <a:ext cx="2340864" cy="1435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B0C7CF"/>
                </a:solidFill>
                <a:latin typeface="Aptos"/>
              </a:defRPr>
            </a:pPr>
            <a:r>
              <a:t>Independent safety / false-alarm studies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07424" y="2962656"/>
            <a:ext cx="155448" cy="0"/>
          </a:xfrm>
          <a:prstGeom prst="line">
            <a:avLst/>
          </a:prstGeom>
          <a:ln w="25400">
            <a:solidFill>
              <a:srgbClr val="25C1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53728" y="1627632"/>
            <a:ext cx="2724912" cy="2587752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53728" y="1627632"/>
            <a:ext cx="64008" cy="2587752"/>
          </a:xfrm>
          <a:prstGeom prst="rect">
            <a:avLst/>
          </a:prstGeom>
          <a:solidFill>
            <a:srgbClr val="E0A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2" y="1773936"/>
            <a:ext cx="235915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E0AC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2057400"/>
            <a:ext cx="2359152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F0F9FA"/>
                </a:solidFill>
                <a:latin typeface="Aptos"/>
              </a:defRPr>
            </a:pPr>
            <a:r>
              <a:t>DEPLOY?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2688336"/>
            <a:ext cx="2340864" cy="1435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B0C7CF"/>
                </a:solidFill>
                <a:latin typeface="Aptos"/>
              </a:defRPr>
            </a:pPr>
            <a:r>
              <a:t>Authorize, limit, revise or retire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4800600"/>
            <a:ext cx="10991088" cy="804672"/>
          </a:xfrm>
          <a:prstGeom prst="roundRect">
            <a:avLst/>
          </a:prstGeom>
          <a:solidFill>
            <a:srgbClr val="124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992624"/>
            <a:ext cx="10689336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0F9FA"/>
                </a:solidFill>
                <a:latin typeface="Aptos"/>
              </a:defRPr>
            </a:pPr>
            <a:r>
              <a:t>CYBERSECURITY IS LIFE SAFETY: signed updates · MFA · isolation · manual fallback · recovery.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01752"/>
            <a:ext cx="50292" cy="557784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0F9FA"/>
                </a:solidFill>
                <a:latin typeface="Aptos"/>
              </a:defRPr>
            </a:pPr>
            <a:r>
              <a:t>CORROBORATE SIGNALS / PRESERVE DUE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0664"/>
            <a:ext cx="1097280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A report is an input to fact-finding, not a guilty verdict.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6528816"/>
            <a:ext cx="11100816" cy="1463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9282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B0C7CF"/>
                </a:solidFill>
                <a:latin typeface="Aptos"/>
              </a:defRPr>
            </a:pPr>
            <a:r>
              <a:t>SCHOOLTHREATMITIGATION  /  PUBLIC DEFENSIVE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83680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700" b="1">
                <a:solidFill>
                  <a:srgbClr val="B0C7CF"/>
                </a:solidFill>
                <a:latin typeface="Aptos"/>
              </a:defRPr>
            </a:pPr>
            <a:r>
              <a:t>VERSION 17.0    •   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547872" cy="342900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17320"/>
            <a:ext cx="64008" cy="342900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609344"/>
            <a:ext cx="3182112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0F9FA"/>
                </a:solidFill>
                <a:latin typeface="Aptos"/>
              </a:defRPr>
            </a:pPr>
            <a:r>
              <a:t>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40280"/>
            <a:ext cx="3163824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Document observable facts and provenance.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Protect complainants.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Separate anonymous tips from findings.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417320"/>
            <a:ext cx="3547872" cy="342900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417320"/>
            <a:ext cx="64008" cy="3429000"/>
          </a:xfrm>
          <a:prstGeom prst="rect">
            <a:avLst/>
          </a:prstGeom>
          <a:solidFill>
            <a:srgbClr val="66C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5" y="1609344"/>
            <a:ext cx="3182112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0F9FA"/>
                </a:solidFill>
                <a:latin typeface="Aptos"/>
              </a:defRPr>
            </a:pPr>
            <a:r>
              <a:t>HUMAN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2240280"/>
            <a:ext cx="3163824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Corroborate and seek context.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Consider supportive interventions.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Retain exculpatory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447288" cy="342900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64008" cy="3429000"/>
          </a:xfrm>
          <a:prstGeom prst="rect">
            <a:avLst/>
          </a:prstGeom>
          <a:solidFill>
            <a:srgbClr val="E0A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609344"/>
            <a:ext cx="3081528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0F9FA"/>
                </a:solidFill>
                <a:latin typeface="Aptos"/>
              </a:defRPr>
            </a:pPr>
            <a:r>
              <a:t>LAWFUL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240280"/>
            <a:ext cx="3063240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Proportionate and documented.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Appropriate emergency exception only.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Correction, appeal and oversight.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257800"/>
            <a:ext cx="10680192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E1846F"/>
                </a:solidFill>
                <a:latin typeface="Aptos"/>
              </a:defRPr>
            </a:pPr>
            <a:r>
              <a:t>NEVER: police escalation or an AI danger label solely from protected speech or uncorroborated allegation.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01752"/>
            <a:ext cx="50292" cy="557784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0F9FA"/>
                </a:solidFill>
                <a:latin typeface="Aptos"/>
              </a:defRPr>
            </a:pPr>
            <a:r>
              <a:t>PROTECT STUDENTS WITHOUT TRAPPING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0664"/>
            <a:ext cx="1097280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Every protective feature must pass fire, accessibility and power-failure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6528816"/>
            <a:ext cx="11100816" cy="1463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9282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B0C7CF"/>
                </a:solidFill>
                <a:latin typeface="Aptos"/>
              </a:defRPr>
            </a:pPr>
            <a:r>
              <a:t>SCHOOLTHREATMITIGATION  /  PUBLIC DEFENSIVE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83680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700" b="1">
                <a:solidFill>
                  <a:srgbClr val="B0C7CF"/>
                </a:solidFill>
                <a:latin typeface="Aptos"/>
              </a:defRPr>
            </a:pPr>
            <a:r>
              <a:t>VERSION 17.0    •   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99032"/>
            <a:ext cx="5312664" cy="333756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99032"/>
            <a:ext cx="64008" cy="333756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91056"/>
            <a:ext cx="4946903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0F9FA"/>
                </a:solidFill>
                <a:latin typeface="Aptos"/>
              </a:defRPr>
            </a:pPr>
            <a:r>
              <a:t>PHYSICAL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21991"/>
            <a:ext cx="4928616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Controlled entry and maintainable door hardware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Accessible protective actions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No unsanctioned barricade/lock-in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Emergency access where 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399032"/>
            <a:ext cx="5312664" cy="333756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399032"/>
            <a:ext cx="64008" cy="3337560"/>
          </a:xfrm>
          <a:prstGeom prst="rect">
            <a:avLst/>
          </a:prstGeom>
          <a:solidFill>
            <a:srgbClr val="66C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591056"/>
            <a:ext cx="4946903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0F9FA"/>
                </a:solidFill>
                <a:latin typeface="Aptos"/>
              </a:defRPr>
            </a:pPr>
            <a:r>
              <a:t>FAILURE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221991"/>
            <a:ext cx="4928616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Safe release under power loss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Multimodal understandable alert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Accessible response for disabilities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Qualified building/fire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5102352"/>
            <a:ext cx="10780776" cy="749808"/>
          </a:xfrm>
          <a:prstGeom prst="roundRect">
            <a:avLst/>
          </a:prstGeom>
          <a:solidFill>
            <a:srgbClr val="4B3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285232"/>
            <a:ext cx="1049731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0F9FA"/>
                </a:solidFill>
                <a:latin typeface="Aptos"/>
              </a:defRPr>
            </a:pPr>
            <a:r>
              <a:t>STOP: an occupied exit that cannot be opened, or a safety system that can be remotely misused.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01752"/>
            <a:ext cx="50292" cy="557784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0F9FA"/>
                </a:solidFill>
                <a:latin typeface="Aptos"/>
              </a:defRPr>
            </a:pPr>
            <a:r>
              <a:t>QUALIFY SPECIALIST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0664"/>
            <a:ext cx="1097280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No canine, security, sensor or AI system is automatically validated by inclusion.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6528816"/>
            <a:ext cx="11100816" cy="1463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9282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B0C7CF"/>
                </a:solidFill>
                <a:latin typeface="Aptos"/>
              </a:defRPr>
            </a:pPr>
            <a:r>
              <a:t>SCHOOLTHREATMITIGATION  /  PUBLIC DEFENSIVE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83680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700" b="1">
                <a:solidFill>
                  <a:srgbClr val="B0C7CF"/>
                </a:solidFill>
                <a:latin typeface="Aptos"/>
              </a:defRPr>
            </a:pPr>
            <a:r>
              <a:t>VERSION 17.0    •   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0472"/>
            <a:ext cx="5294376" cy="3447288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90472"/>
            <a:ext cx="64008" cy="3447288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682495"/>
            <a:ext cx="4928616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0F9FA"/>
                </a:solidFill>
                <a:latin typeface="Aptos"/>
              </a:defRPr>
            </a:pPr>
            <a:r>
              <a:t>CANINES  /  LIMITED-SCOPE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13432"/>
            <a:ext cx="4910328" cy="2532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Define one screening function.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Credential both dog and handler.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Double-blind independent efficacy tests.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Protect student welfare and lawful search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490472"/>
            <a:ext cx="5294376" cy="3447288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490472"/>
            <a:ext cx="64008" cy="3447288"/>
          </a:xfrm>
          <a:prstGeom prst="rect">
            <a:avLst/>
          </a:prstGeom>
          <a:solidFill>
            <a:srgbClr val="E0A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5" y="1682495"/>
            <a:ext cx="4928616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0F9FA"/>
                </a:solidFill>
                <a:latin typeface="Aptos"/>
              </a:defRPr>
            </a:pPr>
            <a:r>
              <a:t>AUTHORIZED RESPONSE  / 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5" y="2313432"/>
            <a:ext cx="4910328" cy="2532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Qualified, separately authorized personnel.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Clearly documented law-enforcement coordination.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Identification, force oversight and accountability.</a:t>
            </a:r>
          </a:p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No AI-initiated or software-delegated force.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340096"/>
            <a:ext cx="105156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B0C7CF"/>
                </a:solidFill>
                <a:latin typeface="Aptos"/>
              </a:defRPr>
            </a:pPr>
            <a:r>
              <a:t>Do not publish operational armed-response details or site-specific defensive weaknesses.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01752"/>
            <a:ext cx="50292" cy="557784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0F9FA"/>
                </a:solidFill>
                <a:latin typeface="Aptos"/>
              </a:defRPr>
            </a:pPr>
            <a:r>
              <a:t>AI AND CYBERSECURITY: HIGH PROMISE, HIGH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0664"/>
            <a:ext cx="1097280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AI supports staff; it never owns coercive or life-and-death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6528816"/>
            <a:ext cx="11100816" cy="1463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9282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B0C7CF"/>
                </a:solidFill>
                <a:latin typeface="Aptos"/>
              </a:defRPr>
            </a:pPr>
            <a:r>
              <a:t>SCHOOLTHREATMITIGATION  /  PUBLIC DEFENSIVE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83680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700" b="1">
                <a:solidFill>
                  <a:srgbClr val="B0C7CF"/>
                </a:solidFill>
                <a:latin typeface="Aptos"/>
              </a:defRPr>
            </a:pPr>
            <a:r>
              <a:t>VERSION 17.0    •   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463040"/>
            <a:ext cx="3675887" cy="306324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1463040"/>
            <a:ext cx="64008" cy="306324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1655064"/>
            <a:ext cx="3310127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0F9FA"/>
                </a:solidFill>
                <a:latin typeface="Aptos"/>
              </a:defRPr>
            </a:pPr>
            <a:r>
              <a:t>LOW-RISK PILOTS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" y="2286000"/>
            <a:ext cx="3291839" cy="2148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Translation, de-identified research and maintenance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463040"/>
            <a:ext cx="3675887" cy="306324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463040"/>
            <a:ext cx="64008" cy="306324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655064"/>
            <a:ext cx="3310127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0F9FA"/>
                </a:solidFill>
                <a:latin typeface="Aptos"/>
              </a:defRPr>
            </a:pPr>
            <a:r>
              <a:t>SENSOR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286000"/>
            <a:ext cx="3291839" cy="2148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Measure misses, false alarms, spoofing and domain shift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11896" y="1463040"/>
            <a:ext cx="3675887" cy="306324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11896" y="1463040"/>
            <a:ext cx="64008" cy="3063240"/>
          </a:xfrm>
          <a:prstGeom prst="rect">
            <a:avLst/>
          </a:prstGeom>
          <a:solidFill>
            <a:srgbClr val="66C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1655064"/>
            <a:ext cx="3310127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F0F9FA"/>
                </a:solidFill>
                <a:latin typeface="Aptos"/>
              </a:defRPr>
            </a:pPr>
            <a:r>
              <a:t>SYSTEM RESILIENCE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2286000"/>
            <a:ext cx="3291839" cy="2148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B0C7CF"/>
                </a:solidFill>
                <a:latin typeface="Aptos"/>
              </a:defRPr>
            </a:pPr>
            <a:r>
              <a:t>MFA, segmentation, backups, patching and manual recovery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" y="4882896"/>
            <a:ext cx="10863072" cy="923544"/>
          </a:xfrm>
          <a:prstGeom prst="roundRect">
            <a:avLst/>
          </a:prstGeom>
          <a:solidFill>
            <a:srgbClr val="46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5074920"/>
            <a:ext cx="10588752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0F9FA"/>
                </a:solidFill>
                <a:latin typeface="Aptos"/>
              </a:defRPr>
            </a:pPr>
            <a:r>
              <a:t>PROHIBITED: automated student danger scoring, automatic suspect identity, autonomous confinement or use of force.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01752"/>
            <a:ext cx="50292" cy="557784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0F9FA"/>
                </a:solidFill>
                <a:latin typeface="Aptos"/>
              </a:defRPr>
            </a:pPr>
            <a:r>
              <a:t>PUBLIC TRUST IS A SAFETY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0664"/>
            <a:ext cx="1097280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Constitutional limits and independent review enable voluntary participation.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6528816"/>
            <a:ext cx="11100816" cy="1463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9282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B0C7CF"/>
                </a:solidFill>
                <a:latin typeface="Aptos"/>
              </a:defRPr>
            </a:pPr>
            <a:r>
              <a:t>SCHOOLTHREATMITIGATION  /  PUBLIC DEFENSIVE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83680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700" b="1">
                <a:solidFill>
                  <a:srgbClr val="B0C7CF"/>
                </a:solidFill>
                <a:latin typeface="Aptos"/>
              </a:defRPr>
            </a:pPr>
            <a:r>
              <a:t>VERSION 17.0    •  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399032"/>
            <a:ext cx="5504688" cy="1975104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1399032"/>
            <a:ext cx="64008" cy="1975104"/>
          </a:xfrm>
          <a:prstGeom prst="rect">
            <a:avLst/>
          </a:prstGeom>
          <a:solidFill>
            <a:srgbClr val="E0A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1591056"/>
            <a:ext cx="5138927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F0F9FA"/>
                </a:solidFill>
                <a:latin typeface="Aptos"/>
              </a:defRPr>
            </a:pPr>
            <a:r>
              <a:t>AUTHORITY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" y="2221991"/>
            <a:ext cx="5120640" cy="1060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B0C7CF"/>
                </a:solidFill>
                <a:latin typeface="Aptos"/>
              </a:defRPr>
            </a:pPr>
            <a:r>
              <a:t>Document legal grounds and agency roles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1399032"/>
            <a:ext cx="5504688" cy="1975104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399032"/>
            <a:ext cx="64008" cy="1975104"/>
          </a:xfrm>
          <a:prstGeom prst="rect">
            <a:avLst/>
          </a:prstGeom>
          <a:solidFill>
            <a:srgbClr val="E0A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5" y="1591056"/>
            <a:ext cx="5138927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F0F9FA"/>
                </a:solidFill>
                <a:latin typeface="Aptos"/>
              </a:defRPr>
            </a:pPr>
            <a:r>
              <a:t>DATA FIREWALL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5" y="2221991"/>
            <a:ext cx="5120640" cy="1060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B0C7CF"/>
                </a:solidFill>
                <a:latin typeface="Aptos"/>
              </a:defRPr>
            </a:pPr>
            <a:r>
              <a:t>FERPA purpose and redisclosure limits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" y="3611880"/>
            <a:ext cx="5504688" cy="1975104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" y="3611880"/>
            <a:ext cx="64008" cy="1975104"/>
          </a:xfrm>
          <a:prstGeom prst="rect">
            <a:avLst/>
          </a:prstGeom>
          <a:solidFill>
            <a:srgbClr val="E0A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" y="3803904"/>
            <a:ext cx="5138927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F0F9FA"/>
                </a:solidFill>
                <a:latin typeface="Aptos"/>
              </a:defRPr>
            </a:pPr>
            <a:r>
              <a:t>COMPLAINTS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" y="4434840"/>
            <a:ext cx="5120640" cy="1060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B0C7CF"/>
                </a:solidFill>
                <a:latin typeface="Aptos"/>
              </a:defRPr>
            </a:pPr>
            <a:r>
              <a:t>External route; preservation and remedies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3611880"/>
            <a:ext cx="5504688" cy="1975104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19088" y="3611880"/>
            <a:ext cx="64008" cy="1975104"/>
          </a:xfrm>
          <a:prstGeom prst="rect">
            <a:avLst/>
          </a:prstGeom>
          <a:solidFill>
            <a:srgbClr val="E0A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5" y="3803904"/>
            <a:ext cx="5138927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F0F9FA"/>
                </a:solidFill>
                <a:latin typeface="Aptos"/>
              </a:defRPr>
            </a:pPr>
            <a:r>
              <a:t>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5" y="4434840"/>
            <a:ext cx="5120640" cy="10607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B0C7CF"/>
                </a:solidFill>
                <a:latin typeface="Aptos"/>
              </a:defRPr>
            </a:pPr>
            <a:r>
              <a:t>Public aggregate measures, non-retaliation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01752"/>
            <a:ext cx="50292" cy="557784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0F9FA"/>
                </a:solidFill>
                <a:latin typeface="Aptos"/>
              </a:defRPr>
            </a:pPr>
            <a:r>
              <a:t>SHARED LEARNING / VERIFIED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0664"/>
            <a:ext cx="1097280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Publish aggregate, de-identified lessons—not sensitive campus vulnerabilities.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6528816"/>
            <a:ext cx="11100816" cy="1463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9282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B0C7CF"/>
                </a:solidFill>
                <a:latin typeface="Aptos"/>
              </a:defRPr>
            </a:pPr>
            <a:r>
              <a:t>SCHOOLTHREATMITIGATION  /  PUBLIC DEFENSIVE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83680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700" b="1">
                <a:solidFill>
                  <a:srgbClr val="B0C7CF"/>
                </a:solidFill>
                <a:latin typeface="Aptos"/>
              </a:defRPr>
            </a:pPr>
            <a:r>
              <a:t>VERSION 17.0    •  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734056"/>
            <a:ext cx="3712463" cy="1554480"/>
          </a:xfrm>
          <a:prstGeom prst="roundRect">
            <a:avLst/>
          </a:prstGeom>
          <a:solidFill>
            <a:srgbClr val="0F595D"/>
          </a:solidFill>
          <a:ln>
            <a:solidFill>
              <a:srgbClr val="25C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3044952"/>
            <a:ext cx="3246120" cy="8321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300"/>
              </a:spcAft>
              <a:defRPr sz="2100" b="1">
                <a:solidFill>
                  <a:srgbClr val="F0F9FA"/>
                </a:solidFill>
                <a:latin typeface="Aptos"/>
              </a:defRPr>
            </a:pPr>
            <a:r>
              <a:t>VALIDATED</a:t>
            </a:r>
          </a:p>
          <a:p>
            <a:pPr algn="ctr">
              <a:spcAft>
                <a:spcPts val="300"/>
              </a:spcAft>
              <a:defRPr sz="2100" b="1">
                <a:solidFill>
                  <a:srgbClr val="F0F9FA"/>
                </a:solidFill>
                <a:latin typeface="Aptos"/>
              </a:defRPr>
            </a:pPr>
            <a:r>
              <a:t>LEARNING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2688336" cy="123444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64008" cy="123444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020824"/>
            <a:ext cx="2322576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0F9FA"/>
                </a:solidFill>
                <a:latin typeface="Aptos"/>
              </a:defRPr>
            </a:pPr>
            <a:r>
              <a:t>SCHOOLS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651760"/>
            <a:ext cx="230428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B0C7CF"/>
                </a:solidFill>
                <a:latin typeface="Aptos"/>
              </a:defRPr>
            </a:pPr>
            <a:r>
              <a:t>Non-sensitive exercise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96528" y="1828800"/>
            <a:ext cx="2688336" cy="123444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96528" y="1828800"/>
            <a:ext cx="64008" cy="123444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2020824"/>
            <a:ext cx="2322576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0F9FA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651760"/>
            <a:ext cx="230428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B0C7CF"/>
                </a:solidFill>
                <a:latin typeface="Aptos"/>
              </a:defRPr>
            </a:pPr>
            <a:r>
              <a:t>Independent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453128"/>
            <a:ext cx="2688336" cy="123444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453128"/>
            <a:ext cx="64008" cy="123444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645152"/>
            <a:ext cx="2322576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0F9F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276088"/>
            <a:ext cx="230428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B0C7CF"/>
                </a:solidFill>
                <a:latin typeface="Aptos"/>
              </a:defRPr>
            </a:pPr>
            <a:r>
              <a:t>Measured outcomes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96528" y="4453128"/>
            <a:ext cx="2688336" cy="123444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96528" y="4453128"/>
            <a:ext cx="64008" cy="123444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97696" y="4645152"/>
            <a:ext cx="2322576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0F9FA"/>
                </a:solidFill>
                <a:latin typeface="Aptos"/>
              </a:defRPr>
            </a:pPr>
            <a:r>
              <a:t>LESSONS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5276088"/>
            <a:ext cx="230428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B0C7CF"/>
                </a:solidFill>
                <a:latin typeface="Aptos"/>
              </a:defRPr>
            </a:pPr>
            <a:r>
              <a:t>Version-controlled guidance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91840" y="2468880"/>
            <a:ext cx="822960" cy="521208"/>
          </a:xfrm>
          <a:prstGeom prst="line">
            <a:avLst/>
          </a:prstGeom>
          <a:ln w="25400">
            <a:solidFill>
              <a:srgbClr val="66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074152" y="2468880"/>
            <a:ext cx="704088" cy="521208"/>
          </a:xfrm>
          <a:prstGeom prst="line">
            <a:avLst/>
          </a:prstGeom>
          <a:ln w="25400">
            <a:solidFill>
              <a:srgbClr val="66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291840" y="3968496"/>
            <a:ext cx="822960" cy="676656"/>
          </a:xfrm>
          <a:prstGeom prst="line">
            <a:avLst/>
          </a:prstGeom>
          <a:ln w="25400">
            <a:solidFill>
              <a:srgbClr val="66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8074152" y="3968496"/>
            <a:ext cx="704088" cy="676656"/>
          </a:xfrm>
          <a:prstGeom prst="line">
            <a:avLst/>
          </a:prstGeom>
          <a:ln w="25400">
            <a:solidFill>
              <a:srgbClr val="66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01752"/>
            <a:ext cx="50292" cy="557784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0F9FA"/>
                </a:solidFill>
                <a:latin typeface="Aptos"/>
              </a:defRPr>
            </a:pPr>
            <a:r>
              <a:t>EXAMPLE: TRACE FROM SPECIFIC THREAT TO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0664"/>
            <a:ext cx="1097280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These four public examples demonstrate the acceptance logic; 18 full records accompany the proposal.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6528816"/>
            <a:ext cx="11100816" cy="1463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9282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B0C7CF"/>
                </a:solidFill>
                <a:latin typeface="Aptos"/>
              </a:defRPr>
            </a:pPr>
            <a:r>
              <a:t>SCHOOLTHREATMITIGATION  /  PUBLIC DEFENSIVE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83680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700" b="1">
                <a:solidFill>
                  <a:srgbClr val="B0C7CF"/>
                </a:solidFill>
                <a:latin typeface="Aptos"/>
              </a:defRPr>
            </a:pPr>
            <a:r>
              <a:t>VERSION 17.0    •  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325880"/>
            <a:ext cx="10762488" cy="987552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99616"/>
            <a:ext cx="283464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66CAE5"/>
                </a:solidFill>
                <a:latin typeface="Aptos"/>
              </a:defRPr>
            </a:pPr>
            <a:r>
              <a:t>T01 · YOUTH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1490472"/>
            <a:ext cx="33832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F0F9FA"/>
                </a:solidFill>
                <a:latin typeface="Aptos"/>
              </a:defRPr>
            </a:pPr>
            <a:r>
              <a:t>Opt-in secure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481328"/>
            <a:ext cx="3867912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Anonymous caregiver comprehension / adoption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" y="2459736"/>
            <a:ext cx="10762488" cy="987552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33472"/>
            <a:ext cx="283464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66CAE5"/>
                </a:solidFill>
                <a:latin typeface="Aptos"/>
              </a:defRPr>
            </a:pPr>
            <a:r>
              <a:t>T05 · FALSE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624328"/>
            <a:ext cx="33832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F0F9FA"/>
                </a:solidFill>
                <a:latin typeface="Aptos"/>
              </a:defRPr>
            </a:pPr>
            <a:r>
              <a:t>Corroboration and correction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2615184"/>
            <a:ext cx="3867912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Synthetic false-report appeal exercise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" y="3593591"/>
            <a:ext cx="10762488" cy="987552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67328"/>
            <a:ext cx="283464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66CAE5"/>
                </a:solidFill>
                <a:latin typeface="Aptos"/>
              </a:defRPr>
            </a:pPr>
            <a:r>
              <a:t>T12 · SPOOFED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758183"/>
            <a:ext cx="33832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F0F9FA"/>
                </a:solidFill>
                <a:latin typeface="Aptos"/>
              </a:defRPr>
            </a:pPr>
            <a:r>
              <a:t>Cyber isolation + manual alert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3749039"/>
            <a:ext cx="3867912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Authorized isolated failure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" y="4727448"/>
            <a:ext cx="10762488" cy="987552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901184"/>
            <a:ext cx="283464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66CAE5"/>
                </a:solidFill>
                <a:latin typeface="Aptos"/>
              </a:defRPr>
            </a:pPr>
            <a:r>
              <a:t>T13 · SEVERE BLEEDING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4892040"/>
            <a:ext cx="33832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F0F9FA"/>
                </a:solidFill>
                <a:latin typeface="Aptos"/>
              </a:defRPr>
            </a:pPr>
            <a:r>
              <a:t>Kits + trained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4882896"/>
            <a:ext cx="3867912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Skills check, stock and EMS handoff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01752"/>
            <a:ext cx="50292" cy="557784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0F9FA"/>
                </a:solidFill>
                <a:latin typeface="Aptos"/>
              </a:defRPr>
            </a:pPr>
            <a:r>
              <a:t>QUALIFICATION IS AN EVIDENCE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0664"/>
            <a:ext cx="1097280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A 90-day research pilot is not field certification of life-safety or armed-response capabilities.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6528816"/>
            <a:ext cx="11100816" cy="1463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9282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B0C7CF"/>
                </a:solidFill>
                <a:latin typeface="Aptos"/>
              </a:defRPr>
            </a:pPr>
            <a:r>
              <a:t>SCHOOLTHREATMITIGATION  /  PUBLIC DEFENSIVE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83680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700" b="1">
                <a:solidFill>
                  <a:srgbClr val="B0C7CF"/>
                </a:solidFill>
                <a:latin typeface="Aptos"/>
              </a:defRPr>
            </a:pPr>
            <a:r>
              <a:t>VERSION 17.0    •   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536192"/>
            <a:ext cx="3666744" cy="237744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" y="1536192"/>
            <a:ext cx="64008" cy="237744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728216"/>
            <a:ext cx="3300984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F0F9FA"/>
                </a:solidFill>
                <a:latin typeface="Aptos"/>
              </a:defRPr>
            </a:pPr>
            <a:r>
              <a:t>DAYS 0–30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59152"/>
            <a:ext cx="3282696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B0C7CF"/>
                </a:solidFill>
                <a:latin typeface="Aptos"/>
              </a:defRPr>
            </a:pPr>
            <a:r>
              <a:t>Baseline, authority and privacy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1536192"/>
            <a:ext cx="3666744" cy="237744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7136" y="1536192"/>
            <a:ext cx="64008" cy="237744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1728216"/>
            <a:ext cx="3300984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F0F9FA"/>
                </a:solidFill>
                <a:latin typeface="Aptos"/>
              </a:defRPr>
            </a:pPr>
            <a:r>
              <a:t>DAYS 31–60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359152"/>
            <a:ext cx="3282696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B0C7CF"/>
                </a:solidFill>
                <a:latin typeface="Aptos"/>
              </a:defRPr>
            </a:pPr>
            <a:r>
              <a:t>Synthetic drill, controlled outage and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6" y="1536192"/>
            <a:ext cx="3666744" cy="2377440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57616" y="1536192"/>
            <a:ext cx="64008" cy="2377440"/>
          </a:xfrm>
          <a:prstGeom prst="rect">
            <a:avLst/>
          </a:prstGeom>
          <a:solidFill>
            <a:srgbClr val="E0A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58784" y="1728216"/>
            <a:ext cx="3300984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F0F9FA"/>
                </a:solidFill>
                <a:latin typeface="Aptos"/>
              </a:defRPr>
            </a:pPr>
            <a:r>
              <a:t>DAYS 61–90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2359152"/>
            <a:ext cx="3282696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B0C7CF"/>
                </a:solidFill>
                <a:latin typeface="Aptos"/>
              </a:defRPr>
            </a:pPr>
            <a:r>
              <a:t>Independent decision, publish aggregate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" y="4471416"/>
            <a:ext cx="10908792" cy="1078992"/>
          </a:xfrm>
          <a:prstGeom prst="roundRect">
            <a:avLst/>
          </a:prstGeom>
          <a:solidFill>
            <a:srgbClr val="144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18304"/>
            <a:ext cx="10506456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0F9FA"/>
                </a:solidFill>
                <a:latin typeface="Aptos"/>
              </a:defRPr>
            </a:pPr>
            <a:r>
              <a:t>APPROVE   /   PILOT WITH LIMITS   /   REMEDIATE   /   REJECT</a:t>
            </a:r>
          </a:p>
          <a:p>
            <a:pPr>
              <a:spcAft>
                <a:spcPts val="300"/>
              </a:spcAft>
              <a:defRPr sz="1500" b="1">
                <a:solidFill>
                  <a:srgbClr val="F0F9FA"/>
                </a:solidFill>
                <a:latin typeface="Aptos"/>
              </a:defRPr>
            </a:pPr>
            <a:r>
              <a:t>Stop immediately for unlawful authority, unsafe egress or unreviewed use of force.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01752"/>
            <a:ext cx="50292" cy="557784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0F9FA"/>
                </a:solidFill>
                <a:latin typeface="Aptos"/>
              </a:defRPr>
            </a:pPr>
            <a:r>
              <a:t>VERSION 17.0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40664"/>
            <a:ext cx="1097280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B0C7CF"/>
                </a:solidFill>
                <a:latin typeface="Aptos"/>
              </a:defRPr>
            </a:pPr>
            <a:r>
              <a:t>The public engineering analysis is complete; field approval is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6528816"/>
            <a:ext cx="11100816" cy="14630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92824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B0C7CF"/>
                </a:solidFill>
                <a:latin typeface="Aptos"/>
              </a:defRPr>
            </a:pPr>
            <a:r>
              <a:t>SCHOOLTHREATMITIGATION  /  PUBLIC DEFENSIVE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83680"/>
            <a:ext cx="1773936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  <a:defRPr sz="700" b="1">
                <a:solidFill>
                  <a:srgbClr val="B0C7CF"/>
                </a:solidFill>
                <a:latin typeface="Aptos"/>
              </a:defRPr>
            </a:pPr>
            <a:r>
              <a:t>VERSION 17.0    •  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481328"/>
            <a:ext cx="10844784" cy="3182112"/>
          </a:xfrm>
          <a:prstGeom prst="roundRect">
            <a:avLst/>
          </a:prstGeom>
          <a:solidFill>
            <a:srgbClr val="17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" y="1481328"/>
            <a:ext cx="64008" cy="3182112"/>
          </a:xfrm>
          <a:prstGeom prst="rect">
            <a:avLst/>
          </a:prstGeom>
          <a:solidFill>
            <a:srgbClr val="25C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673352"/>
            <a:ext cx="10479024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F0F9FA"/>
                </a:solidFill>
                <a:latin typeface="Aptos"/>
              </a:defRPr>
            </a:pPr>
            <a:r>
              <a:t>BOARD REVIEW &amp; LOCAL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04288"/>
            <a:ext cx="10460736" cy="22677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B0C7CF"/>
                </a:solidFill>
                <a:latin typeface="Aptos"/>
              </a:defRPr>
            </a:pPr>
            <a:r>
              <a:t>Select representative scenarios, identify accountable owners, verify law and fire-code requirements, measure baseline protection, and fund independent qualification testing.</a:t>
            </a:r>
          </a:p>
          <a:p>
            <a:pPr>
              <a:spcAft>
                <a:spcPts val="300"/>
              </a:spcAft>
              <a:defRPr sz="1700" b="0">
                <a:solidFill>
                  <a:srgbClr val="B0C7C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700" b="0">
                <a:solidFill>
                  <a:srgbClr val="B0C7CF"/>
                </a:solidFill>
                <a:latin typeface="Aptos"/>
              </a:defRPr>
            </a:pPr>
            <a:r>
              <a:t>Publish only de-identified results and avoid operationally exploitable security details.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5056632"/>
            <a:ext cx="1056132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66CAE5"/>
                </a:solidFill>
                <a:latin typeface="Aptos"/>
              </a:defRPr>
            </a:pPr>
            <a:r>
              <a:t>Independent public research · GNU AGPLv3 · No live-site operational certification claimed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